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6454F"/>
                </a:solidFill>
                <a:latin typeface="Times New Roman"/>
              </a:defRPr>
            </a:pPr>
            <a:r>
              <a:rPr sz="1600" b="0" i="0" u="none" strike="noStrike">
                <a:solidFill>
                  <a:srgbClr val="36454F"/>
                </a:solidFill>
                <a:latin typeface="Times New Roman"/>
              </a:rPr>
              <a:t>Operations vs Input Size (n)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O(log n)</c:v>
                </c:pt>
              </c:strCache>
            </c:strRef>
          </c:tx>
          <c:spPr>
            <a:solidFill>
              <a:srgbClr val="0B5566"/>
            </a:solidFill>
            <a:ln w="31750" cap="flat">
              <a:solidFill>
                <a:srgbClr val="0B5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5566"/>
              </a:solidFill>
              <a:ln w="9525" cap="flat">
                <a:solidFill>
                  <a:srgbClr val="0B5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1.584962500721156</c:v>
                </c:pt>
                <c:pt idx="3">
                  <c:v>2</c:v>
                </c:pt>
                <c:pt idx="4">
                  <c:v>2.321928094887362</c:v>
                </c:pt>
                <c:pt idx="5">
                  <c:v>2.584962500721156</c:v>
                </c:pt>
                <c:pt idx="6">
                  <c:v>2.807354922057604</c:v>
                </c:pt>
                <c:pt idx="7">
                  <c:v>3</c:v>
                </c:pt>
                <c:pt idx="8">
                  <c:v>3.169925001442312</c:v>
                </c:pt>
                <c:pt idx="9">
                  <c:v>3.321928094887362</c:v>
                </c:pt>
                <c:pt idx="10">
                  <c:v>3.4594316186372973</c:v>
                </c:pt>
                <c:pt idx="11">
                  <c:v>3.584962500721156</c:v>
                </c:pt>
                <c:pt idx="12">
                  <c:v>3.700439718141092</c:v>
                </c:pt>
                <c:pt idx="13">
                  <c:v>3.807354922057604</c:v>
                </c:pt>
                <c:pt idx="14">
                  <c:v>3.9068905956085187</c:v>
                </c:pt>
                <c:pt idx="15">
                  <c:v>4</c:v>
                </c:pt>
                <c:pt idx="16">
                  <c:v>4.087462841250339</c:v>
                </c:pt>
                <c:pt idx="17">
                  <c:v>4.169925001442312</c:v>
                </c:pt>
                <c:pt idx="18">
                  <c:v>4.247927513443585</c:v>
                </c:pt>
                <c:pt idx="19">
                  <c:v>4.321928094887363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36454F"/>
            </a:solidFill>
            <a:ln w="31750" cap="flat">
              <a:solidFill>
                <a:srgbClr val="3645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6454F"/>
              </a:solidFill>
              <a:ln w="9525" cap="flat">
                <a:solidFill>
                  <a:srgbClr val="3645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 log n)</c:v>
                </c:pt>
              </c:strCache>
            </c:strRef>
          </c:tx>
          <c:spPr>
            <a:solidFill>
              <a:srgbClr val="8A4B2E"/>
            </a:solidFill>
            <a:ln w="31750" cap="flat">
              <a:solidFill>
                <a:srgbClr val="8A4B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4B2E"/>
              </a:solidFill>
              <a:ln w="9525" cap="flat">
                <a:solidFill>
                  <a:srgbClr val="8A4B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</c:v>
                </c:pt>
                <c:pt idx="1">
                  <c:v>2</c:v>
                </c:pt>
                <c:pt idx="2">
                  <c:v>4.754887502163468</c:v>
                </c:pt>
                <c:pt idx="3">
                  <c:v>8</c:v>
                </c:pt>
                <c:pt idx="4">
                  <c:v>11.60964047443681</c:v>
                </c:pt>
                <c:pt idx="5">
                  <c:v>15.509775004326936</c:v>
                </c:pt>
                <c:pt idx="6">
                  <c:v>19.651484454403228</c:v>
                </c:pt>
                <c:pt idx="7">
                  <c:v>24</c:v>
                </c:pt>
                <c:pt idx="8">
                  <c:v>28.52932501298081</c:v>
                </c:pt>
                <c:pt idx="9">
                  <c:v>33.219280948873624</c:v>
                </c:pt>
                <c:pt idx="10">
                  <c:v>38.05374780501027</c:v>
                </c:pt>
                <c:pt idx="11">
                  <c:v>43.01955000865387</c:v>
                </c:pt>
                <c:pt idx="12">
                  <c:v>48.105716335834195</c:v>
                </c:pt>
                <c:pt idx="13">
                  <c:v>53.302968908806456</c:v>
                </c:pt>
                <c:pt idx="14">
                  <c:v>58.60335893412778</c:v>
                </c:pt>
                <c:pt idx="15">
                  <c:v>64</c:v>
                </c:pt>
                <c:pt idx="16">
                  <c:v>69.48686830125577</c:v>
                </c:pt>
                <c:pt idx="17">
                  <c:v>75.05865002596161</c:v>
                </c:pt>
                <c:pt idx="18">
                  <c:v>80.71062275542812</c:v>
                </c:pt>
                <c:pt idx="19">
                  <c:v>86.43856189774725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8A1414"/>
            </a:solidFill>
            <a:ln w="31750" cap="flat">
              <a:solidFill>
                <a:srgbClr val="8A14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1414"/>
              </a:solidFill>
              <a:ln w="9525" cap="flat">
                <a:solidFill>
                  <a:srgbClr val="8A14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  <c:pt idx="10">
                  <c:v>121</c:v>
                </c:pt>
                <c:pt idx="11">
                  <c:v>144</c:v>
                </c:pt>
                <c:pt idx="12">
                  <c:v>169</c:v>
                </c:pt>
                <c:pt idx="13">
                  <c:v>196</c:v>
                </c:pt>
                <c:pt idx="14">
                  <c:v>225</c:v>
                </c:pt>
                <c:pt idx="15">
                  <c:v>256</c:v>
                </c:pt>
                <c:pt idx="16">
                  <c:v>289</c:v>
                </c:pt>
                <c:pt idx="17">
                  <c:v>324</c:v>
                </c:pt>
                <c:pt idx="18">
                  <c:v>361</c:v>
                </c:pt>
                <c:pt idx="19">
                  <c:v>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6B7580"/>
                    </a:solidFill>
                    <a:latin typeface="Times New Roman"/>
                  </a:defRPr>
                </a:pPr>
                <a:r>
                  <a:rPr sz="1300" b="0" i="0" u="none" strike="noStrike">
                    <a:solidFill>
                      <a:srgbClr val="6B7580"/>
                    </a:solidFill>
                    <a:latin typeface="Times New Roman"/>
                  </a:rPr>
                  <a:t>Input size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8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7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6B7580"/>
                    </a:solidFill>
                    <a:latin typeface="Times New Roman"/>
                  </a:defRPr>
                </a:pPr>
                <a:r>
                  <a:rPr sz="1300" b="0" i="0" u="none" strike="noStrike">
                    <a:solidFill>
                      <a:srgbClr val="6B7580"/>
                    </a:solidFill>
                    <a:latin typeface="Times New Roman"/>
                  </a:rPr>
                  <a:t>Number of operations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8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12121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32D3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926080" cy="2926080"/>
          </a:xfrm>
          <a:prstGeom prst="ellipse">
            <a:avLst/>
          </a:prstGeom>
          <a:solidFill>
            <a:srgbClr val="232D34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212080"/>
            <a:ext cx="3108960" cy="3108960"/>
          </a:xfrm>
          <a:prstGeom prst="ellipse">
            <a:avLst/>
          </a:prstGeom>
          <a:solidFill>
            <a:srgbClr val="2C394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ASSESSMENT TOOL 3 — TECHNICAL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Analyzing Growth Functions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O(log n)  ·  O(n)  ·  O(n log n)  ·  O(n²)  ·  O(2ⁿ)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visualization-based comparison of algorithmic growth rates and their impact on efficiency and scalability.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6400800" cy="1874520"/>
          </a:xfrm>
          <a:prstGeom prst="roundRect">
            <a:avLst>
              <a:gd name="adj" fmla="val 5854"/>
            </a:avLst>
          </a:prstGeom>
          <a:solidFill>
            <a:srgbClr val="232D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4160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 ARAVIND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581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NO.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45811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192424080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5001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5001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CSA06 · Design and Analysis of Algorithms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422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 ASSESSED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5422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CO1 — Precision (BL1, BL2, BL3)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035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SIMATS Engineering · Saveetha School of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4160520"/>
            <a:ext cx="2377440" cy="2377440"/>
          </a:xfrm>
          <a:prstGeom prst="ellipse">
            <a:avLst/>
          </a:prstGeom>
          <a:solidFill>
            <a:srgbClr val="232D34"/>
          </a:solidFill>
          <a:ln w="19050">
            <a:solidFill>
              <a:srgbClr val="B8860B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47548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Compare Growth Functions?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Asymptotic notation lets us predict scalability and compare algorithms fairly, independent of hardware — guiding which design remains usable as input size grows.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691640"/>
          <a:ext cx="10378440" cy="4206240"/>
        </p:xfrm>
        <a:graphic>
          <a:graphicData uri="http://schemas.openxmlformats.org/drawingml/2006/table">
            <a:tbl>
              <a:tblPr/>
              <a:tblGrid>
                <a:gridCol w="1508760"/>
                <a:gridCol w="1691640"/>
                <a:gridCol w="3017520"/>
                <a:gridCol w="4160520"/>
              </a:tblGrid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 Algorithm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Behavior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D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O(log n)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Logarithmic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Binary search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Grows extremely slowly as n increases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6454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O(n)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search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Grows directly proportional to 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55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O(n log n)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Linearithmic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Merge sort, Quick sort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Slightly steeper than linear, still efficient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A4B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O(n²)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Quadratic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Bubble sort, Insertion sort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Grows fast — doubling n roughly quadruples time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A141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O(2ⁿ)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Exponential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Recursive subset generation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Grows explosively — becomes unusable quickly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2555748"/>
            <a:ext cx="548640" cy="548640"/>
          </a:xfrm>
          <a:prstGeom prst="ellipse">
            <a:avLst/>
          </a:prstGeom>
          <a:solidFill>
            <a:srgbClr val="0B556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92908"/>
            <a:ext cx="2743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3314700"/>
            <a:ext cx="548640" cy="54864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1860"/>
            <a:ext cx="274320" cy="2743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48640" y="4073652"/>
            <a:ext cx="548640" cy="548640"/>
          </a:xfrm>
          <a:prstGeom prst="ellipse">
            <a:avLst/>
          </a:prstGeom>
          <a:solidFill>
            <a:srgbClr val="3E5C5E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10812"/>
            <a:ext cx="274320" cy="27432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48640" y="4832604"/>
            <a:ext cx="548640" cy="548640"/>
          </a:xfrm>
          <a:prstGeom prst="ellipse">
            <a:avLst/>
          </a:prstGeom>
          <a:solidFill>
            <a:srgbClr val="8A4B2E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69764"/>
            <a:ext cx="274320" cy="27432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48640" y="5591556"/>
            <a:ext cx="548640" cy="548640"/>
          </a:xfrm>
          <a:prstGeom prst="ellipse">
            <a:avLst/>
          </a:prstGeom>
          <a:solidFill>
            <a:srgbClr val="8A1414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728716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CSA06 · Design and Analysis of Algorithms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Visualizing Growth: n from 1 to 20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O(2ⁿ) is excluded here — it dwarfs the other curves even by n = 20 (see next slide)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CSA06 · Design and Analysis of Algorithms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Exponential Explosion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35640" y="365760"/>
            <a:ext cx="685800" cy="685800"/>
          </a:xfrm>
          <a:prstGeom prst="ellipse">
            <a:avLst/>
          </a:prstGeom>
          <a:solidFill>
            <a:srgbClr val="8A141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5029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O(2ⁿ) cannot share an axis with the others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0"/>
          <a:ext cx="10515600" cy="329184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201168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 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 log 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n²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2ⁿ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2.32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3.32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3.91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32,768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4.32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1,048,576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4.64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33,554,432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4.91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1.07e+9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5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94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4800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n = 30, O(2ⁿ) already exceeds one billion operations — while O(n²) is under 1,000.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22960" y="5394960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0B5566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4681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O(log n)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58155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990088" y="5394960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3E5C5E"/>
          </a:solidFill>
          <a:ln/>
        </p:spPr>
      </p:sp>
      <p:sp>
        <p:nvSpPr>
          <p:cNvPr id="12" name="Text 8"/>
          <p:cNvSpPr/>
          <p:nvPr/>
        </p:nvSpPr>
        <p:spPr>
          <a:xfrm>
            <a:off x="2990088" y="54681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90088" y="58155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157216" y="5394960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4A5A6A"/>
          </a:solidFill>
          <a:ln/>
        </p:spPr>
      </p:sp>
      <p:sp>
        <p:nvSpPr>
          <p:cNvPr id="15" name="Text 11"/>
          <p:cNvSpPr/>
          <p:nvPr/>
        </p:nvSpPr>
        <p:spPr>
          <a:xfrm>
            <a:off x="5157216" y="54681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 log n)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57216" y="58155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24344" y="5394960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8A4B2E"/>
          </a:solidFill>
          <a:ln/>
        </p:spPr>
      </p:sp>
      <p:sp>
        <p:nvSpPr>
          <p:cNvPr id="18" name="Text 14"/>
          <p:cNvSpPr/>
          <p:nvPr/>
        </p:nvSpPr>
        <p:spPr>
          <a:xfrm>
            <a:off x="7324344" y="54681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O(n²)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324344" y="58155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491472" y="5394960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8A1414"/>
          </a:solidFill>
          <a:ln/>
        </p:spPr>
      </p:sp>
      <p:sp>
        <p:nvSpPr>
          <p:cNvPr id="21" name="Text 17"/>
          <p:cNvSpPr/>
          <p:nvPr/>
        </p:nvSpPr>
        <p:spPr>
          <a:xfrm>
            <a:off x="9491472" y="54681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O(2ⁿ)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491472" y="581558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IMPRACTICAL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CSA06 · Design and Analysis of Algorithms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Functions Stay Practical?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Judging usability for large-scale, real-world input sizes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139696" cy="1188720"/>
          </a:xfrm>
          <a:prstGeom prst="roundRect">
            <a:avLst>
              <a:gd name="adj" fmla="val 7692"/>
            </a:avLst>
          </a:prstGeom>
          <a:solidFill>
            <a:srgbClr val="0B556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2139696" cy="365760"/>
          </a:xfrm>
          <a:prstGeom prst="rect">
            <a:avLst/>
          </a:prstGeom>
          <a:solidFill>
            <a:srgbClr val="0B55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83794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0487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O(log 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EXCELLENT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3566160"/>
            <a:ext cx="18105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to billions of records with negligible cost increase.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16352" y="169164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2816352" y="1691640"/>
            <a:ext cx="2139696" cy="1188720"/>
          </a:xfrm>
          <a:prstGeom prst="roundRect">
            <a:avLst>
              <a:gd name="adj" fmla="val 7692"/>
            </a:avLst>
          </a:prstGeom>
          <a:solidFill>
            <a:srgbClr val="3E5C5E"/>
          </a:solidFill>
          <a:ln/>
        </p:spPr>
      </p:sp>
      <p:sp>
        <p:nvSpPr>
          <p:cNvPr id="13" name="Shape 10"/>
          <p:cNvSpPr/>
          <p:nvPr/>
        </p:nvSpPr>
        <p:spPr>
          <a:xfrm>
            <a:off x="2816352" y="2514600"/>
            <a:ext cx="2139696" cy="365760"/>
          </a:xfrm>
          <a:prstGeom prst="rect">
            <a:avLst/>
          </a:prstGeom>
          <a:solidFill>
            <a:srgbClr val="3E5C5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837944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16352" y="240487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92608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980944" y="3566160"/>
            <a:ext cx="18105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 grows steadily; fine for most large datasets.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84064" y="169164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2F2F2"/>
          </a:solidFill>
          <a:ln/>
        </p:spPr>
      </p:sp>
      <p:sp>
        <p:nvSpPr>
          <p:cNvPr id="19" name="Shape 15"/>
          <p:cNvSpPr/>
          <p:nvPr/>
        </p:nvSpPr>
        <p:spPr>
          <a:xfrm>
            <a:off x="5084064" y="1691640"/>
            <a:ext cx="2139696" cy="1188720"/>
          </a:xfrm>
          <a:prstGeom prst="roundRect">
            <a:avLst>
              <a:gd name="adj" fmla="val 7692"/>
            </a:avLst>
          </a:prstGeom>
          <a:solidFill>
            <a:srgbClr val="4A5A6A"/>
          </a:solidFill>
          <a:ln/>
        </p:spPr>
      </p:sp>
      <p:sp>
        <p:nvSpPr>
          <p:cNvPr id="20" name="Shape 16"/>
          <p:cNvSpPr/>
          <p:nvPr/>
        </p:nvSpPr>
        <p:spPr>
          <a:xfrm>
            <a:off x="5084064" y="2514600"/>
            <a:ext cx="2139696" cy="365760"/>
          </a:xfrm>
          <a:prstGeom prst="rect">
            <a:avLst/>
          </a:prstGeom>
          <a:solidFill>
            <a:srgbClr val="4A5A6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837944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84064" y="240487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 log n)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193792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A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248656" y="3566160"/>
            <a:ext cx="18105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best achievable for comparison-based sorting at scale.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351776" y="169164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2F2F2"/>
          </a:solidFill>
          <a:ln/>
        </p:spPr>
      </p:sp>
      <p:sp>
        <p:nvSpPr>
          <p:cNvPr id="26" name="Shape 21"/>
          <p:cNvSpPr/>
          <p:nvPr/>
        </p:nvSpPr>
        <p:spPr>
          <a:xfrm>
            <a:off x="7351776" y="1691640"/>
            <a:ext cx="2139696" cy="1188720"/>
          </a:xfrm>
          <a:prstGeom prst="roundRect">
            <a:avLst>
              <a:gd name="adj" fmla="val 7692"/>
            </a:avLst>
          </a:prstGeom>
          <a:solidFill>
            <a:srgbClr val="8A4B2E"/>
          </a:solidFill>
          <a:ln/>
        </p:spPr>
      </p:sp>
      <p:sp>
        <p:nvSpPr>
          <p:cNvPr id="27" name="Shape 22"/>
          <p:cNvSpPr/>
          <p:nvPr/>
        </p:nvSpPr>
        <p:spPr>
          <a:xfrm>
            <a:off x="7351776" y="2514600"/>
            <a:ext cx="2139696" cy="365760"/>
          </a:xfrm>
          <a:prstGeom prst="rect">
            <a:avLst/>
          </a:prstGeom>
          <a:solidFill>
            <a:srgbClr val="8A4B2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837944"/>
            <a:ext cx="512064" cy="5120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51776" y="240487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O(n²)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461504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RISKY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516368" y="3566160"/>
            <a:ext cx="18105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Becomes slow beyond tens of thousands of items.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9619488" y="169164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2F2F2"/>
          </a:solidFill>
          <a:ln/>
        </p:spPr>
      </p:sp>
      <p:sp>
        <p:nvSpPr>
          <p:cNvPr id="33" name="Shape 27"/>
          <p:cNvSpPr/>
          <p:nvPr/>
        </p:nvSpPr>
        <p:spPr>
          <a:xfrm>
            <a:off x="9619488" y="1691640"/>
            <a:ext cx="2139696" cy="1188720"/>
          </a:xfrm>
          <a:prstGeom prst="roundRect">
            <a:avLst>
              <a:gd name="adj" fmla="val 7692"/>
            </a:avLst>
          </a:prstGeom>
          <a:solidFill>
            <a:srgbClr val="8A1414"/>
          </a:solidFill>
          <a:ln/>
        </p:spPr>
      </p:sp>
      <p:sp>
        <p:nvSpPr>
          <p:cNvPr id="34" name="Shape 28"/>
          <p:cNvSpPr/>
          <p:nvPr/>
        </p:nvSpPr>
        <p:spPr>
          <a:xfrm>
            <a:off x="9619488" y="2514600"/>
            <a:ext cx="2139696" cy="365760"/>
          </a:xfrm>
          <a:prstGeom prst="rect">
            <a:avLst/>
          </a:prstGeom>
          <a:solidFill>
            <a:srgbClr val="8A1414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4" y="1837944"/>
            <a:ext cx="512064" cy="51206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19488" y="240487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O(2ⁿ)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9729216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IMPRACTICAL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9784080" y="3566160"/>
            <a:ext cx="18105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Unusable beyond a few dozen inputs — avoid for large n.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CSA06 · Design and Analysis of Algorithms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291840" cy="3291840"/>
          </a:xfrm>
          <a:prstGeom prst="ellipse">
            <a:avLst/>
          </a:prstGeom>
          <a:solidFill>
            <a:srgbClr val="232D34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303520"/>
            <a:ext cx="3108960" cy="3108960"/>
          </a:xfrm>
          <a:prstGeom prst="ellipse">
            <a:avLst/>
          </a:prstGeom>
          <a:solidFill>
            <a:srgbClr val="232D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Linking growth behavior to algorithm selection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09928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Asymptotic notation lets us judge an algorithm's efficiency independent of hardware, letting the same analysis apply everywhere it runs.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4261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51176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Logarithmic and linearithmic algorithms (binary search, merge sort) scale gracefully and should be preferred whenever the problem structure allows them.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8386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392424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Quadratic algorithms are acceptable only for small or moderate n; for large-scale systems they should be replaced with an n log n alternative.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32511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4233672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Exponential algorithms should be reserved for small inputs only, or replaced with dynamic programming, approximation, or heuristic techniques.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66360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5074920"/>
            <a:ext cx="9921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Choosing the right algorithm is, fundamentally, choosing the right growth curve for the problem's expected input size.</a:t>
            </a:r>
            <a:endParaRPr lang="en-US" sz="15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943600"/>
            <a:ext cx="384048" cy="38404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43000" y="5989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— Questions &amp; Discussion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CSA06 · Design and Analysis of Algorithms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2026-07-17T08:08:19Z</dcterms:created>
  <dcterms:modified xsi:type="dcterms:W3CDTF">2026-07-17T08:08:19Z</dcterms:modified>
</cp:coreProperties>
</file>